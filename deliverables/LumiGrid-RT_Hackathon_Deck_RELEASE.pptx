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9e076852aed4730" /><Relationship Type="http://schemas.openxmlformats.org/officeDocument/2006/relationships/extended-properties" Target="/docProps/app.xml" Id="R42857ab364204adb" /><Relationship Type="http://schemas.openxmlformats.org/officeDocument/2006/relationships/officeDocument" Target="/ppt/presentation.xml" Id="R2d40a7e8aa3c4c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f0ff80027a48c3"/>
  </p:sldMasterIdLst>
  <p:notesMasterIdLst>
    <p:notesMasterId xmlns:r="http://schemas.openxmlformats.org/officeDocument/2006/relationships" r:id="R90603b0732d34932"/>
  </p:notesMasterIdLst>
  <p:sldIdLst>
    <p:sldId xmlns:r="http://schemas.openxmlformats.org/officeDocument/2006/relationships" id="256" r:id="R13c56c1c507a4767"/>
    <p:sldId xmlns:r="http://schemas.openxmlformats.org/officeDocument/2006/relationships" id="257" r:id="Rf52a45d9cdb5487c"/>
    <p:sldId xmlns:r="http://schemas.openxmlformats.org/officeDocument/2006/relationships" id="258" r:id="R4e1cd92fbb484d6f"/>
    <p:sldId xmlns:r="http://schemas.openxmlformats.org/officeDocument/2006/relationships" id="259" r:id="R018700695d2a4d9a"/>
    <p:sldId xmlns:r="http://schemas.openxmlformats.org/officeDocument/2006/relationships" id="260" r:id="R7835e3e097774e1c"/>
    <p:sldId xmlns:r="http://schemas.openxmlformats.org/officeDocument/2006/relationships" id="261" r:id="Rad88bf84a394471b"/>
    <p:sldId xmlns:r="http://schemas.openxmlformats.org/officeDocument/2006/relationships" id="262" r:id="R040de5351fc84a9f"/>
    <p:sldId xmlns:r="http://schemas.openxmlformats.org/officeDocument/2006/relationships" id="263" r:id="Rfec638b580c648bc"/>
    <p:sldId xmlns:r="http://schemas.openxmlformats.org/officeDocument/2006/relationships" id="264" r:id="R8f744670ac7c4683"/>
    <p:sldId xmlns:r="http://schemas.openxmlformats.org/officeDocument/2006/relationships" id="265" r:id="R2cd9c847d61c47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20b831ea0f947dd" /><Relationship Type="http://schemas.openxmlformats.org/officeDocument/2006/relationships/slideMaster" Target="/ppt/slideMasters/slideMaster1.xml" Id="Rd0f0ff80027a48c3" /><Relationship Type="http://schemas.openxmlformats.org/officeDocument/2006/relationships/notesMaster" Target="/ppt/notesMasters/notesMaster1.xml" Id="R90603b0732d34932" /><Relationship Type="http://schemas.openxmlformats.org/officeDocument/2006/relationships/presProps" Target="/ppt/presProps.xml" Id="Rdb30f63208da41ac" /><Relationship Type="http://schemas.openxmlformats.org/officeDocument/2006/relationships/tableStyles" Target="/ppt/tableStyles.xml" Id="Rc5b0883b363c4483" /><Relationship Type="http://schemas.openxmlformats.org/officeDocument/2006/relationships/slide" Target="/ppt/slides/slide1.xml" Id="R13c56c1c507a4767" /><Relationship Type="http://schemas.openxmlformats.org/officeDocument/2006/relationships/slide" Target="/ppt/slides/slide2.xml" Id="Rf52a45d9cdb5487c" /><Relationship Type="http://schemas.openxmlformats.org/officeDocument/2006/relationships/slide" Target="/ppt/slides/slide3.xml" Id="R4e1cd92fbb484d6f" /><Relationship Type="http://schemas.openxmlformats.org/officeDocument/2006/relationships/slide" Target="/ppt/slides/slide4.xml" Id="R018700695d2a4d9a" /><Relationship Type="http://schemas.openxmlformats.org/officeDocument/2006/relationships/slide" Target="/ppt/slides/slide5.xml" Id="R7835e3e097774e1c" /><Relationship Type="http://schemas.openxmlformats.org/officeDocument/2006/relationships/slide" Target="/ppt/slides/slide6.xml" Id="Rad88bf84a394471b" /><Relationship Type="http://schemas.openxmlformats.org/officeDocument/2006/relationships/slide" Target="/ppt/slides/slide7.xml" Id="R040de5351fc84a9f" /><Relationship Type="http://schemas.openxmlformats.org/officeDocument/2006/relationships/slide" Target="/ppt/slides/slide8.xml" Id="Rfec638b580c648bc" /><Relationship Type="http://schemas.openxmlformats.org/officeDocument/2006/relationships/slide" Target="/ppt/slides/slide9.xml" Id="R8f744670ac7c4683" /><Relationship Type="http://schemas.openxmlformats.org/officeDocument/2006/relationships/slide" Target="/ppt/slides/slide10.xml" Id="R2cd9c847d61c47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4b665d7bae0411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e8e216343a54b80" /><Relationship Type="http://schemas.openxmlformats.org/officeDocument/2006/relationships/notesMaster" Target="/ppt/notesMasters/notesMaster1.xml" Id="R33e491bfaff1424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43a69e771a4a73" /><Relationship Type="http://schemas.openxmlformats.org/officeDocument/2006/relationships/notesMaster" Target="/ppt/notesMasters/notesMaster1.xml" Id="Rdd5c0a54bd5d45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ab8b1d8f4794050" /><Relationship Type="http://schemas.openxmlformats.org/officeDocument/2006/relationships/notesMaster" Target="/ppt/notesMasters/notesMaster1.xml" Id="Ref7c1eb74782400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aa63f8d6d7c423d" /><Relationship Type="http://schemas.openxmlformats.org/officeDocument/2006/relationships/notesMaster" Target="/ppt/notesMasters/notesMaster1.xml" Id="Rc40f3fe6f52642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6d2544e38d4b1e" /><Relationship Type="http://schemas.openxmlformats.org/officeDocument/2006/relationships/notesMaster" Target="/ppt/notesMasters/notesMaster1.xml" Id="R0e72a37a15d740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55ec2e28b94a4a" /><Relationship Type="http://schemas.openxmlformats.org/officeDocument/2006/relationships/notesMaster" Target="/ppt/notesMasters/notesMaster1.xml" Id="R33585f676be04c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2906d8ebe09460b" /><Relationship Type="http://schemas.openxmlformats.org/officeDocument/2006/relationships/notesMaster" Target="/ppt/notesMasters/notesMaster1.xml" Id="R50777cb8936f44a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613c2f026045b8" /><Relationship Type="http://schemas.openxmlformats.org/officeDocument/2006/relationships/notesMaster" Target="/ppt/notesMasters/notesMaster1.xml" Id="Rc46a1310d59247f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6cf3103500247e6" /><Relationship Type="http://schemas.openxmlformats.org/officeDocument/2006/relationships/notesMaster" Target="/ppt/notesMasters/notesMaster1.xml" Id="R621a66a3f79f441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59651a5828a4450" /><Relationship Type="http://schemas.openxmlformats.org/officeDocument/2006/relationships/notesMaster" Target="/ppt/notesMasters/notesMaster1.xml" Id="Rde33ca0fb12d43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safety problem, then name the project.</a:t>
            </a:r>
          </a:p>
          <a:p xmlns:a="http://schemas.openxmlformats.org/drawingml/2006/main">
            <a:r>
              <a:t>This cover is conceptual artwork, not a photograph of the deployed prototype.</a:t>
            </a:r>
          </a:p>
          <a:p xmlns:a="http://schemas.openxmlformats.org/drawingml/2006/main">
            <a:r>
              <a:t>Source: Official participant brief supplied by the team. Do not redistribute the source PDF.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Contrast always-on control with purely reactive PIR switching.</a:t>
            </a:r>
          </a:p>
          <a:p xmlns:a="http://schemas.openxmlformats.org/drawingml/2006/main">
            <a:r>
              <a:t>The design objective comes from the selected challenge: energy reduction while maintaining safety from traffic and environmental conditions.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Walk from left to right. Emphasize that the predictor never writes PWM directly.</a:t>
            </a:r>
          </a:p>
          <a:p xmlns:a="http://schemas.openxmlformats.org/drawingml/2006/main">
            <a:r>
              <a:t>QNX reference: https://www.qnx.com/developers/docs/8.0/com.qnx.doc.neutrino.utilities/topic/m/mqueue.html</a:t>
            </a:r>
          </a:p>
          <a:p xmlns:a="http://schemas.openxmlformats.org/drawingml/2006/main">
            <a:r>
              <a:t>The QNX mqueue manager implements POSIX queues, while send and receive use kernel-space queues.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READY and BLOCKED in plain language before naming SCHED_FIFO.</a:t>
            </a:r>
          </a:p>
          <a:p xmlns:a="http://schemas.openxmlformats.org/drawingml/2006/main">
            <a:r>
              <a:t>QNX FIFO reference: https://www.qnx.com/developers/docs/8.0/com.qnx.doc.neutrino.prog/topic/overview_FIFO_scheduling.html</a:t>
            </a:r>
          </a:p>
          <a:p xmlns:a="http://schemas.openxmlformats.org/drawingml/2006/main">
            <a:r>
              <a:t>QNX priority API: https://www.qnx.com/developers/docs/8.0/com.qnx.doc.neutrino.lib_ref/topic/p/pthread_setschedparam.html</a:t>
            </a:r>
          </a:p>
          <a:p xmlns:a="http://schemas.openxmlformats.org/drawingml/2006/main">
            <a:r>
              <a:t>QNX absolute timer API: https://www.qnx.com/developers/docs/8.0/com.qnx.doc.neutrino.lib_ref/topic/c/clock_nanosleep.html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only the first three states aloud, then summarize the rest.</a:t>
            </a:r>
          </a:p>
          <a:p xmlns:a="http://schemas.openxmlformats.org/drawingml/2006/main">
            <a:r>
              <a:t>Brightness increases immediately. Decreases ramp by 15 percentage points no faster than every 500 ms.</a:t>
            </a:r>
          </a:p>
          <a:p xmlns:a="http://schemas.openxmlformats.org/drawingml/2006/main">
            <a:r>
              <a:t>Source: src/control_engine.cpp in the project repository.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weights are implemented in src/predictor.cpp. The score is clamped to 0 through 1.</a:t>
            </a:r>
          </a:p>
          <a:p xmlns:a="http://schemas.openxmlformats.org/drawingml/2006/main">
            <a:r>
              <a:t>The historical profile is editable in config/historical_profile.csv.</a:t>
            </a:r>
          </a:p>
          <a:p xmlns:a="http://schemas.openxmlformats.org/drawingml/2006/main">
            <a:r>
              <a:t>Emphasize that the predictor recommends demand; the controller enforces safety.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slide for the reliability score in the rubric.</a:t>
            </a:r>
          </a:p>
          <a:p xmlns:a="http://schemas.openxmlformats.org/drawingml/2006/main">
            <a:r>
              <a:t>Each queue send has a timeout. Status loss affects presentation only, not control.</a:t>
            </a:r>
          </a:p>
          <a:p xmlns:a="http://schemas.openxmlformats.org/drawingml/2006/main">
            <a:r>
              <a:t>Source: src/main.cpp and src/control_engine.cpp.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Let a judge choose one command. The CLI is the required interface, not a prerecorded animation.</a:t>
            </a:r>
          </a:p>
          <a:p xmlns:a="http://schemas.openxmlformats.org/drawingml/2006/main">
            <a:r>
              <a:t>The displayed values illustrate the implemented modes; live numbers vary with timing and scenario.</a:t>
            </a:r>
          </a:p>
          <a:p xmlns:a="http://schemas.openxmlformats.org/drawingml/2006/main">
            <a:r>
              <a:t>Run command: make interactive.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Do not call these QNX results. They are Linux host validation from docs/TEST_REPORT.md.</a:t>
            </a:r>
          </a:p>
          <a:p xmlns:a="http://schemas.openxmlformats.org/drawingml/2006/main">
            <a:r>
              <a:t>Energy is integrated from commanded brightness against a 100%-brightness baseline. It is not a wattmeter reading.</a:t>
            </a:r>
          </a:p>
          <a:p xmlns:a="http://schemas.openxmlformats.org/drawingml/2006/main">
            <a:r>
              <a:t>Source data: run matrix and stress summary.json files generated September 12,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Pi has no analog input, so the LDR needs an ADC such as ADS1115 or MCP3008.</a:t>
            </a:r>
          </a:p>
          <a:p xmlns:a="http://schemas.openxmlformats.org/drawingml/2006/main">
            <a:r>
              <a:t>Confirm the exact Pi model, BSP, and driver interfaces before writing a hardware adapter.</a:t>
            </a:r>
          </a:p>
          <a:p xmlns:a="http://schemas.openxmlformats.org/drawingml/2006/main">
            <a:r>
              <a:t>QNX SDP documentation: https://www.qnx.com/developers/docs/8.0/</a:t>
            </a:r>
          </a:p>
          <a:p xmlns:a="http://schemas.openxmlformats.org/drawingml/2006/main">
            <a:r>
              <a:t>The official deck checklist supplied by the team requires Software Center, Momentics, BSP, libraries, and tested hardware readiness.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ff128d2c204c6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398afdd43949ab" /><Relationship Type="http://schemas.openxmlformats.org/officeDocument/2006/relationships/slideLayout" Target="/ppt/slideLayouts/slideLayout1.xml" Id="R537561b67bb648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7561b67bb648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f9ac4ede44a8a" /><Relationship Type="http://schemas.openxmlformats.org/officeDocument/2006/relationships/image" Target="/ppt/media/image.png" Id="Rd164f9ba33a745e4" /><Relationship Type="http://schemas.openxmlformats.org/officeDocument/2006/relationships/notesSlide" Target="/ppt/notesSlides/notesSlide1.xml" Id="R31a56fbf6c3f4c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ae07264734756" /><Relationship Type="http://schemas.openxmlformats.org/officeDocument/2006/relationships/notesSlide" Target="/ppt/notesSlides/notesSlide2.xml" Id="R14c5733a826045e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f49346c1147d7" /><Relationship Type="http://schemas.openxmlformats.org/officeDocument/2006/relationships/notesSlide" Target="/ppt/notesSlides/notesSlide3.xml" Id="Ra4113a78c84d4b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8bb3f43074110" /><Relationship Type="http://schemas.openxmlformats.org/officeDocument/2006/relationships/notesSlide" Target="/ppt/notesSlides/notesSlide4.xml" Id="R6922036cfa9a4f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5f0eff04b4653" /><Relationship Type="http://schemas.openxmlformats.org/officeDocument/2006/relationships/notesSlide" Target="/ppt/notesSlides/notesSlide5.xml" Id="Rbbd987253ad5416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c6b56f269f4523" /><Relationship Type="http://schemas.openxmlformats.org/officeDocument/2006/relationships/chart" Target="/ppt/slides/charts/chart1.xml" Id="Rd014b902e85a4d2c" /><Relationship Type="http://schemas.openxmlformats.org/officeDocument/2006/relationships/notesSlide" Target="/ppt/notesSlides/notesSlide6.xml" Id="R92ea096cd6d147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f640349554b06" /><Relationship Type="http://schemas.openxmlformats.org/officeDocument/2006/relationships/notesSlide" Target="/ppt/notesSlides/notesSlide7.xml" Id="Ra21e155a83a447e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5a2a260874494e" /><Relationship Type="http://schemas.openxmlformats.org/officeDocument/2006/relationships/notesSlide" Target="/ppt/notesSlides/notesSlide8.xml" Id="R5e266c11abd74ad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463ae45bbb4eb4" /><Relationship Type="http://schemas.openxmlformats.org/officeDocument/2006/relationships/chart" Target="/ppt/slides/charts/chart2.xml" Id="R3f3a627420e54002" /><Relationship Type="http://schemas.openxmlformats.org/officeDocument/2006/relationships/notesSlide" Target="/ppt/notesSlides/notesSlide9.xml" Id="Re5224f56800142b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dde1f60355416b" /><Relationship Type="http://schemas.openxmlformats.org/officeDocument/2006/relationships/notesSlide" Target="/ppt/notesSlides/notesSlide10.xml" Id="R30778a4c638a40c2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Base demand score</c:v>
          </c:tx>
          <c:spPr>
            <a:solidFill xmlns:a="http://schemas.openxmlformats.org/drawingml/2006/main">
              <a:srgbClr val="28D7EE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28D7EE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5B83B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DD49C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F5C6C"/>
              </a:solidFill>
            </c:spPr>
          </c:dPt>
          <c:cat>
            <c:strLit>
              <c:ptCount val="4"/>
              <c:pt idx="0">
                <c:v>Recent activity</c:v>
              </c:pt>
              <c:pt idx="1">
                <c:v>Historical hour</c:v>
              </c:pt>
              <c:pt idx="2">
                <c:v>Adjacent zones</c:v>
              </c:pt>
              <c:pt idx="3">
                <c:v>Current PIR</c:v>
              </c:pt>
            </c:strLit>
          </c:cat>
          <c:val>
            <c:numLit>
              <c:formatCode>General</c:formatCode>
              <c:ptCount val="4"/>
              <c:pt idx="0">
                <c:v>35</c:v>
              </c:pt>
              <c:pt idx="1">
                <c:v>30</c:v>
              </c:pt>
              <c:pt idx="2">
                <c:v>20</c:v>
              </c:pt>
              <c:pt idx="3">
                <c:v>15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4F7FB"/>
                  </a:solidFill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6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724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71724"/>
    </a:solidFill>
    <a:ln xmlns:a="http://schemas.openxmlformats.org/drawingml/2006/main" w="0">
      <a:noFill/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Estimated saving</c:v>
          </c:tx>
          <c:spPr>
            <a:solidFill xmlns:a="http://schemas.openxmlformats.org/drawingml/2006/main">
              <a:srgbClr val="28D7EE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4DD49C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28D7EE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F5B83B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FF5C6C"/>
              </a:solidFill>
            </c:spPr>
          </c:dPt>
          <c:cat>
            <c:strLit>
              <c:ptCount val="4"/>
              <c:pt idx="0">
                <c:v>Daylight</c:v>
              </c:pt>
              <c:pt idx="1">
                <c:v>Quiet night</c:v>
              </c:pt>
              <c:pt idx="2">
                <c:v>Sensor fault</c:v>
              </c:pt>
              <c:pt idx="3">
                <c:v>Rush hour</c:v>
              </c:pt>
            </c:strLit>
          </c:cat>
          <c:val>
            <c:numLit>
              <c:formatCode>0.0"%"</c:formatCode>
              <c:ptCount val="4"/>
              <c:pt idx="0">
                <c:v>79.998</c:v>
              </c:pt>
              <c:pt idx="1">
                <c:v>73.17</c:v>
              </c:pt>
              <c:pt idx="2">
                <c:v>34.94</c:v>
              </c:pt>
              <c:pt idx="3">
                <c:v>11.571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F4F7FB"/>
                  </a:solidFill>
                  <a:latin typeface="Nimbus Sans"/>
                  <a:ea typeface="Nimbus Sans"/>
                  <a:cs typeface="Nimbus Sans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365067"/>
              </a:solidFill>
              <a:prstDash val="solid"/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36506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0">
            <a:noFill/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071724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071724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4f9ba33a745e4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CD360-D588-4325-8641-48527BF24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286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724">
              <a:alpha val="9019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67EE5-C3B8-4F96-9E85-70F2576C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8D7EE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28D7EE"/>
                </a:solidFill>
                <a:latin typeface="Nimbus Sans"/>
                <a:ea typeface="Nimbus Sans"/>
                <a:cs typeface="Nimbus Sans"/>
              </a:rPr>
              <a:t>QNX India Hackathon</a:t>
            </a:r>
          </a:p>
          <a:p xmlns:a="http://schemas.openxmlformats.org/drawingml/2006/main">
            <a:pPr algn="l">
              <a:defRPr sz="1425" b="1">
                <a:solidFill>
                  <a:srgbClr val="28D7EE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28D7EE"/>
                </a:solidFill>
                <a:latin typeface="Nimbus Sans"/>
                <a:ea typeface="Nimbus Sans"/>
                <a:cs typeface="Nimbus Sans"/>
              </a:rPr>
              <a:t>Chennai, September 18-19,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DEDB65-5CB8-459F-8E69-690C9C04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5429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990"/>
          </a:bodyPr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4950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LumiGrid-RT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EAC548-3303-478C-871C-871AE3CD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4762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Safety-constrained predictive street lighting on QNX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4FDABE-D015-4BCF-9DF0-7D7785DE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38650"/>
            <a:ext cx="4667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Four processes. Priority override. Measured behavior.</a:t>
            </a:r>
          </a:p>
        </p:txBody>
      </p:sp>
    </p:spTree>
    <p:extLst>
      <p:ext uri="{BB962C8B-B14F-4D97-AF65-F5344CB8AC3E}">
        <p14:creationId xmlns:p14="http://schemas.microsoft.com/office/powerpoint/2010/main" val="13828373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BD9596B-0489-4882-8415-ADFC53BA3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The control gap in current street lighting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AC2F27-1028-48A6-AC56-D4CBC4E6D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D7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C3B444-12F9-41E9-9E8C-FA815B028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304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150" b="1">
                <a:solidFill>
                  <a:srgbClr val="F5B83B"/>
                </a:solidFill>
                <a:latin typeface="Nimbus Sans"/>
                <a:ea typeface="Nimbus Sans"/>
                <a:cs typeface="Nimbus Sans"/>
              </a:defRPr>
            </a:pPr>
            <a:r>
              <a:rPr sz="6150" b="1">
                <a:solidFill>
                  <a:srgbClr val="F5B83B"/>
                </a:solidFill>
                <a:latin typeface="Nimbus Sans"/>
                <a:ea typeface="Nimbus Sans"/>
                <a:cs typeface="Nimbus Sans"/>
              </a:rPr>
              <a:t>100%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876DAF-B768-470D-9C85-91E601BBD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304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Always-on lighting preserves visibility but wastes power during quiet hours.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CFA9C8-C87D-4F36-A23A-F9C26E32B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46685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3650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12FB2C-878C-4A3B-B7E8-0D95A65F5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714500"/>
            <a:ext cx="2476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FF5C6C"/>
                </a:solidFill>
                <a:latin typeface="Nimbus Sans"/>
                <a:ea typeface="Nimbus Sans"/>
                <a:cs typeface="Nimbus Sans"/>
              </a:defRPr>
            </a:pPr>
            <a:r>
              <a:rPr sz="3450" b="1">
                <a:solidFill>
                  <a:srgbClr val="FF5C6C"/>
                </a:solidFill>
                <a:latin typeface="Nimbus Sans"/>
                <a:ea typeface="Nimbus Sans"/>
                <a:cs typeface="Nimbus Sans"/>
              </a:rPr>
              <a:t>Reactive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963EEE-10B1-484D-A8E3-B5451221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590800"/>
            <a:ext cx="2857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Simple PIR switching responds only after arrival. Independent poles cannot light the path ahead.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5B4C1-4E33-4497-A46C-8C1395C3B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6573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8D7EE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28D7EE"/>
                </a:solidFill>
                <a:latin typeface="Nimbus Sans"/>
                <a:ea typeface="Nimbus Sans"/>
                <a:cs typeface="Nimbus Sans"/>
              </a:rPr>
              <a:t>Required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D91E14-B5BA-4F63-82C8-BBC26EE7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47900"/>
            <a:ext cx="2857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Reduce brightness only when daylight, occupancy, expected demand, weather, and sensor health allow it.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31A19F-6FE9-458C-8A21-1A141DC6F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363200" cy="666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9050">
            <a:solidFill>
              <a:srgbClr val="FF5C6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Emergency must bypass every energy-saving rule.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DCEDD0-51C4-4367-93B5-0C1984920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0149077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DB573E7-86E3-4B7A-B24A-39F5078A1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QNX process and message-queue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EDC099-113C-4648-B856-618631C6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D7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2B9493-A5B2-4ACF-AB56-3052373E9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00100"/>
            <a:ext cx="977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Critical work stays isolated; the controller owns every lamp decision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9BDD7-AF60-43C3-B482-01FC39A3C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24765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4288">
            <a:solidFill>
              <a:srgbClr val="4DD49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A6422-9810-4778-AA43-5415680E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430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DD49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4DD49C"/>
                </a:solidFill>
                <a:latin typeface="Nimbus Sans"/>
                <a:ea typeface="Nimbus Sans"/>
                <a:cs typeface="Nimbus Sans"/>
              </a:rPr>
              <a:t>Sensor service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5FE67E-5D42-47FB-A872-B4C12183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95475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FIFO 40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LDR, PIR, visibility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Absolute 250 ms timer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A483CF-2EDE-4C24-8FB7-675DAD89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24765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4288">
            <a:solidFill>
              <a:srgbClr val="28D7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9E188B-0701-4B6A-8B73-8EA872E31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0040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D7EE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8D7EE"/>
                </a:solidFill>
                <a:latin typeface="Nimbus Sans"/>
                <a:ea typeface="Nimbus Sans"/>
                <a:cs typeface="Nimbus Sans"/>
              </a:rPr>
              <a:t>Prediction service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EA6CD5-2814-4D18-9C76-46BC557E8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52825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FIFO 30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Controller sensor copy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History + neighbor flow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586B7-368F-4AAB-8D1C-EDB1BDED7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43450"/>
            <a:ext cx="24765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4288">
            <a:solidFill>
              <a:srgbClr val="FF5C6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C3B9BF-D9E0-461E-885F-F0C661801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2133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5C6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F5C6C"/>
                </a:solidFill>
                <a:latin typeface="Nimbus Sans"/>
                <a:ea typeface="Nimbus Sans"/>
                <a:cs typeface="Nimbus Sans"/>
              </a:rPr>
              <a:t>Emergency service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D4946-5CF5-4B91-88CA-D9372F4F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0175"/>
            <a:ext cx="2133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FIFO 60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Physical or CLI input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Independent timeout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3C241-0647-486A-9ACD-1E381B7E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571750"/>
            <a:ext cx="285750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4288">
            <a:solidFill>
              <a:srgbClr val="F5B83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C40E14-EB9A-4F12-AFBF-53D3E04B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686050"/>
            <a:ext cx="2514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B83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5B83B"/>
                </a:solidFill>
                <a:latin typeface="Nimbus Sans"/>
                <a:ea typeface="Nimbus Sans"/>
                <a:cs typeface="Nimbus Sans"/>
              </a:rPr>
              <a:t>Bounded event queue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2371FF-5022-4458-86C5-E9459F16F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38475"/>
            <a:ext cx="25146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Fixed-size messages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Priority 31 emergency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Priority 10 sensor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73DE7E-2141-4F2A-B523-161C3D6C0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71750"/>
            <a:ext cx="3143250" cy="1524000"/>
          </a:xfrm>
          <a:prstGeom xmlns:a="http://schemas.openxmlformats.org/drawingml/2006/main" prst="roundRect">
            <a:avLst>
              <a:gd name="adj" fmla="val 8750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4288">
            <a:solidFill>
              <a:srgbClr val="28D7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B967E1-0A77-4D42-99FE-CAF638B41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8605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D7EE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8D7EE"/>
                </a:solidFill>
                <a:latin typeface="Nimbus Sans"/>
                <a:ea typeface="Nimbus Sans"/>
                <a:cs typeface="Nimbus Sans"/>
              </a:rPr>
              <a:t>Lighting controller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5D83BF-7A67-44B7-A5F2-55CA440F1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038475"/>
            <a:ext cx="28003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FIFO 70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Safety state machine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Latency and energy metrics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D58FE9-2FAE-4D40-A8E7-91ED4477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762500"/>
            <a:ext cx="3143250" cy="12001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4288">
            <a:solidFill>
              <a:srgbClr val="4DD49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1C1076-77BC-4109-816F-7FAFF10E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876800"/>
            <a:ext cx="2800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DD49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4DD49C"/>
                </a:solidFill>
                <a:latin typeface="Nimbus Sans"/>
                <a:ea typeface="Nimbus Sans"/>
                <a:cs typeface="Nimbus Sans"/>
              </a:rPr>
              <a:t>Outputs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36EC2E-70E0-4E65-B897-16AF39E17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229225"/>
            <a:ext cx="280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2157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Zone PWM targets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Status queue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CSV and JSON evidence</a:t>
            </a:r>
          </a:p>
        </p:txBody>
      </p:sp>
      <p:cxnSp>
        <p:nvCxnSpPr>
          <p:cNvPr id="49" name=""/>
          <p:cNvCxnSpPr>
            <a:stCxn xmlns:a="http://schemas.openxmlformats.org/drawingml/2006/main" id="4" idx="3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162300" y="2057400"/>
            <a:ext cx="2362200" cy="514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DD49C"/>
            </a:solidFill>
            <a:prstDash val="solid"/>
            <a:tailEnd type="triangle" w="sm" len="sm"/>
          </a:ln>
        </p:spPr>
      </p:cxnSp>
      <p:cxnSp>
        <p:nvCxnSpPr>
          <p:cNvPr id="50" name=""/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 flipV="1">
            <a:off x="3162300" y="3333750"/>
            <a:ext cx="93345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D7EE"/>
            </a:solidFill>
            <a:prstDash val="solid"/>
            <a:tailEnd type="triangle" w="sm" len="sm"/>
          </a:ln>
        </p:spPr>
      </p:cxnSp>
      <p:cxnSp>
        <p:nvCxnSpPr>
          <p:cNvPr id="51" name=""/>
          <p:cNvCxnSpPr>
            <a:stCxn xmlns:a="http://schemas.openxmlformats.org/drawingml/2006/main" id="10" idx="3"/>
            <a:endCxn xmlns:a="http://schemas.openxmlformats.org/drawingml/2006/main" id="13" idx="2"/>
          </p:cNvCxnSpPr>
          <p:nvPr/>
        </p:nvCxnSpPr>
        <p:spPr>
          <a:xfrm xmlns:a="http://schemas.openxmlformats.org/drawingml/2006/main" flipV="1">
            <a:off x="3162300" y="4095750"/>
            <a:ext cx="2362200" cy="1276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F5C6C"/>
            </a:solidFill>
            <a:prstDash val="solid"/>
            <a:tailEnd type="triangle" w="sm" len="sm"/>
          </a:ln>
        </p:spPr>
      </p:cxnSp>
      <p:cxnSp>
        <p:nvCxnSpPr>
          <p:cNvPr id="52" name=""/>
          <p:cNvCxnSpPr>
            <a:stCxn xmlns:a="http://schemas.openxmlformats.org/drawingml/2006/main" id="13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6953250" y="3333750"/>
            <a:ext cx="11239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5B83B"/>
            </a:solidFill>
            <a:prstDash val="solid"/>
            <a:tailEnd type="triangle" w="sm" len="sm"/>
          </a:ln>
        </p:spPr>
      </p:cxnSp>
      <p:cxnSp>
        <p:nvCxnSpPr>
          <p:cNvPr id="53" name=""/>
          <p:cNvCxnSpPr>
            <a:stCxn xmlns:a="http://schemas.openxmlformats.org/drawingml/2006/main" id="16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648825" y="4095750"/>
            <a:ext cx="0" cy="6667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DD49C"/>
            </a:solidFill>
            <a:prstDash val="solid"/>
            <a:tailEnd type="triangle" w="sm" len="sm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8CD756-92F2-48EC-9735-643C14842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354282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216B429-CC15-4D76-898E-101CAC65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Deterministic scheduling and priority override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B6785-4DEB-4ABD-9750-AF759656A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D7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A7660F-39EB-4248-89B2-B69797B7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38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Requested SCHED_FIFO priority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19F1F7-FE23-4F0E-8DF5-A8A32D646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Controller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E398D9-9642-4C6F-B217-BB3A7A084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1847850"/>
            <a:ext cx="300037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28D7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CF726-F729-4FD1-8F45-4EA5AD709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80975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28D7EE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8D7EE"/>
                </a:solidFill>
                <a:latin typeface="Nimbus Sans"/>
                <a:ea typeface="Nimbus Sans"/>
                <a:cs typeface="Nimbus Sans"/>
              </a:rPr>
              <a:t>70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4FC782-39B5-4D6B-914C-BA551730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032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Emergency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33717F-C6E7-4D09-A946-7DB6C562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38425"/>
            <a:ext cx="25717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F5C6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22DBA-B5D4-49E8-87AD-D5779B75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60032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F5C6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F5C6C"/>
                </a:solidFill>
                <a:latin typeface="Nimbus Sans"/>
                <a:ea typeface="Nimbus Sans"/>
                <a:cs typeface="Nimbus Sans"/>
              </a:rPr>
              <a:t>60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A6AAA2-9E45-4CFE-8625-105FF34D8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Sensors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8B0BC9-AE6C-4823-8C48-2E3600AF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29000"/>
            <a:ext cx="17145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4DD4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8C4B0-7860-4A20-B865-204C16784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90900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4DD49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4DD49C"/>
                </a:solidFill>
                <a:latin typeface="Nimbus Sans"/>
                <a:ea typeface="Nimbus Sans"/>
                <a:cs typeface="Nimbus Sans"/>
              </a:rPr>
              <a:t>40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73B073-6926-4C2A-BE74-E3D4082A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138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Prediction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43A673-0A6F-441D-B0CE-26B809366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219575"/>
            <a:ext cx="1285875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5B8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54F90-4843-4A8A-A1E3-9C4C50E0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81475"/>
            <a:ext cx="43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725" b="1">
                <a:solidFill>
                  <a:srgbClr val="F5B83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5B83B"/>
                </a:solidFill>
                <a:latin typeface="Nimbus Sans"/>
                <a:ea typeface="Nimbus Sans"/>
                <a:cs typeface="Nimbus Sans"/>
              </a:rPr>
              <a:t>30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9DEF6D-064A-4824-9C03-EE6B4E097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3144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Absolute sensor schedule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9FD8A8-91C9-4CC8-A9BB-13873DED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57500"/>
            <a:ext cx="4095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6506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2424C6-6D1F-47C2-8B1C-DC0B5718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6860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D49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60C41DD-C1C9-40A4-847B-5C39EE51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31051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t₀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0D10C3-7426-4287-B1AE-74F0B772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0075" y="26860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D4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65895F-0F5D-44E7-B54C-20A93E67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051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t₀ + 1T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275C81-53D0-4421-BCD3-5D71092DF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6860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D49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99B99E-99FC-40BF-9032-BE157E5E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31051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t₀ + 2T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DB330D-F9C7-407A-926D-49A430C65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2686050"/>
            <a:ext cx="0" cy="3429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4DD49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444E03-9B8C-4BA5-8782-D8A0953E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1051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t₀ + 3T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960064E-3542-4843-B0DD-70554598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866900"/>
            <a:ext cx="590550" cy="66675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FF5C6C"/>
          </a:solidFill>
          <a:ln xmlns:a="http://schemas.openxmlformats.org/drawingml/2006/main" w="9525">
            <a:solidFill>
              <a:srgbClr val="FF5C6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C10967-CAE1-40C6-9ADF-9AF830AC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7145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5C6C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5C6C"/>
                </a:solidFill>
                <a:latin typeface="Nimbus Sans"/>
                <a:ea typeface="Nimbus Sans"/>
                <a:cs typeface="Nimbus Sans"/>
              </a:rPr>
              <a:t>Emergency becomes READY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78D56F-0FAF-437D-A38B-882A352C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095750"/>
            <a:ext cx="46482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The emergency service preempts sensor and prediction work. Queue priority 31 moves its event first, then the FIFO-70 controller applies the 100% override.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0FECE4F-B03A-4B23-9D61-F92ECACEC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49530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4288">
            <a:solidFill>
              <a:srgbClr val="4DD49C"/>
            </a:solidFill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DD49C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4DD49C"/>
                </a:solidFill>
                <a:latin typeface="Nimbus Sans"/>
                <a:ea typeface="Nimbus Sans"/>
                <a:cs typeface="Nimbus Sans"/>
              </a:rPr>
              <a:t>No cumulative timer drift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38797A-4C38-4207-9D7A-956DE970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171294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EB0407B-5AF2-487B-8A1D-11061098E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Safety state machine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CE8EF-99BD-4FFE-A36C-39477048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D7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0A2B0D-CC82-4C9D-9F6C-5A82068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00100"/>
            <a:ext cx="977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Daylight prevents wasted activation; emergency and fail-safe remain above it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685800" y="1352550"/>
          <a:ext xmlns:a="http://schemas.openxmlformats.org/drawingml/2006/main" cx="10820400" cy="4629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2381250"/>
                <a:gridCol w="6076950"/>
                <a:gridCol w="1485900"/>
              </a:tblGrid>
              <a:tr h="46291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Priority</a:t>
                      </a:r>
                    </a:p>
                  </a:txBody>
                  <a:tcPr marL="91440" marR="91440" marT="45720" marB="45720" anchor="ctr">
                    <a:solidFill>
                      <a:srgbClr val="0E91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State</a:t>
                      </a:r>
                    </a:p>
                  </a:txBody>
                  <a:tcPr marL="91440" marR="91440" marT="45720" marB="45720" anchor="ctr">
                    <a:solidFill>
                      <a:srgbClr val="0E91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Trigger</a:t>
                      </a:r>
                    </a:p>
                  </a:txBody>
                  <a:tcPr marL="91440" marR="91440" marT="45720" marB="45720" anchor="ctr">
                    <a:solidFill>
                      <a:srgbClr val="0E91A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Target</a:t>
                      </a:r>
                    </a:p>
                  </a:txBody>
                  <a:tcPr marL="91440" marR="91440" marT="45720" marB="45720" anchor="ctr">
                    <a:solidFill>
                      <a:srgbClr val="0E91AA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8D7E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EMERGENCY</a:t>
                      </a:r>
                    </a:p>
                  </a:txBody>
                  <a:tcPr marL="91440" marR="91440" marT="45720" marB="45720" anchor="ctr">
                    <a:solidFill>
                      <a:srgbClr val="49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Explicit emergency is active</a:t>
                      </a:r>
                    </a:p>
                  </a:txBody>
                  <a:tcPr marL="91440" marR="91440" marT="45720" marB="45720" anchor="ctr">
                    <a:solidFill>
                      <a:srgbClr val="491F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5C6C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491F2A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8D7E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STARTUP_SAFE</a:t>
                      </a:r>
                    </a:p>
                  </a:txBody>
                  <a:tcPr marL="91440" marR="91440" marT="45720" marB="45720" anchor="ctr">
                    <a:solidFill>
                      <a:srgbClr val="493A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 sensor sample has arrived yet</a:t>
                      </a:r>
                    </a:p>
                  </a:txBody>
                  <a:tcPr marL="91440" marR="91440" marT="45720" marB="45720" anchor="ctr">
                    <a:solidFill>
                      <a:srgbClr val="493A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5B83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70%</a:t>
                      </a:r>
                    </a:p>
                  </a:txBody>
                  <a:tcPr marL="91440" marR="91440" marT="45720" marB="45720" anchor="ctr">
                    <a:solidFill>
                      <a:srgbClr val="493A1D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8D7E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SENSOR_FAILSAFE</a:t>
                      </a:r>
                    </a:p>
                  </a:txBody>
                  <a:tcPr marL="91440" marR="91440" marT="45720" marB="45720" anchor="ctr">
                    <a:solidFill>
                      <a:srgbClr val="493A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Sensor is invalid or stale</a:t>
                      </a:r>
                    </a:p>
                  </a:txBody>
                  <a:tcPr marL="91440" marR="91440" marT="45720" marB="45720" anchor="ctr">
                    <a:solidFill>
                      <a:srgbClr val="493A1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5B83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70%</a:t>
                      </a:r>
                    </a:p>
                  </a:txBody>
                  <a:tcPr marL="91440" marR="91440" marT="45720" marB="45720" anchor="ctr">
                    <a:solidFill>
                      <a:srgbClr val="493A1D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8D7E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DAYLIGHT_OFF</a:t>
                      </a:r>
                    </a:p>
                  </a:txBody>
                  <a:tcPr marL="91440" marR="91440" marT="45720" marB="45720" anchor="ctr">
                    <a:solidFill>
                      <a:srgbClr val="163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Daylight ≥ 160 lux and no higher state</a:t>
                      </a:r>
                    </a:p>
                  </a:txBody>
                  <a:tcPr marL="91440" marR="91440" marT="45720" marB="45720" anchor="ctr">
                    <a:solidFill>
                      <a:srgbClr val="163A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4DD49C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0%</a:t>
                      </a:r>
                    </a:p>
                  </a:txBody>
                  <a:tcPr marL="91440" marR="91440" marT="45720" marB="45720" anchor="ctr">
                    <a:solidFill>
                      <a:srgbClr val="163A2D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8D7E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ACTIVE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Current or recent PIR activity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5C6C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100%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8D7E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WEATHER_SAFE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Visibility is below the safe threshold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5B83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75%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8D7E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PRELIGHT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Neighbor activity or probability ≥ 0.65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5B83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65%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8D7E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PREDICTIVE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Demand probability ≥ 0.35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5B83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40%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</a:tr>
              <a:tr h="462915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28D7EE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ECO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>
                          <a:solidFill>
                            <a:srgbClr val="F4F7F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Dark road with low expected demand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5B83B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20%</a:t>
                      </a:r>
                    </a:p>
                  </a:txBody>
                  <a:tcPr marL="91440" marR="91440" marT="45720" marB="45720" anchor="ctr">
                    <a:solidFill>
                      <a:srgbClr val="0B2234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8B1B62-2F77-4A3D-A47E-82817AA3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583811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6253716-5335-4BC9-9D41-FA50AF98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Explainable prediction and coordinated light wave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158ABE-4276-4E7F-9FDC-7449A4E4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D7EE"/>
            </a:solidFill>
            <a:prstDash val="solid"/>
          </a:ln>
        </p:spPr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52450" y="1409700"/>
          <a:ext xmlns:a="http://schemas.openxmlformats.org/drawingml/2006/main" cx="5143500" cy="3390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014b902e85a4d2c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948502-23C9-4B0A-92F0-30C43C51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Base weights (%)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886276-77B3-4A96-A21A-9D5566C6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7685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500" b="0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A bounded positive-trend bonus reacts to rising traffic.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A51F5C-DD4D-435D-80AB-2C8C961E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47800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One PIR event lights the road ahead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6D6C1F-E528-4F6B-8AC3-33BCD81B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00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3F"/>
          </a:solidFill>
          <a:ln xmlns:a="http://schemas.openxmlformats.org/drawingml/2006/main" w="28575">
            <a:solidFill>
              <a:srgbClr val="A8B8C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6DDD61-75C2-42A5-A0BB-42B03826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3675" y="253365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Z1</a:t>
            </a:r>
          </a:p>
          <a:p xmlns:a="http://schemas.openxmlformats.org/drawingml/2006/main">
            <a:pPr algn="ctr">
              <a:defRPr sz="1575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20%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292A54-4BA5-40F1-91D7-8ACFB62DC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400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3A1D"/>
          </a:solidFill>
          <a:ln xmlns:a="http://schemas.openxmlformats.org/drawingml/2006/main" w="28575">
            <a:solidFill>
              <a:srgbClr val="F5B83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5D496A-B34D-4BB4-8A5F-9CB38742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3365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Z2</a:t>
            </a:r>
          </a:p>
          <a:p xmlns:a="http://schemas.openxmlformats.org/drawingml/2006/main">
            <a:pPr algn="ctr">
              <a:defRPr sz="1575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100%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976510-6506-4C21-A914-C04F6B94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00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3F45"/>
          </a:solidFill>
          <a:ln xmlns:a="http://schemas.openxmlformats.org/drawingml/2006/main" w="28575">
            <a:solidFill>
              <a:srgbClr val="28D7E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EFC2F-E378-4EDC-A00C-AAA68A01A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53365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Z3</a:t>
            </a:r>
          </a:p>
          <a:p xmlns:a="http://schemas.openxmlformats.org/drawingml/2006/main">
            <a:pPr algn="ctr">
              <a:defRPr sz="1575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65%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B4FE9E-8E52-462C-8D3A-B4BD86C05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00300"/>
            <a:ext cx="895350" cy="895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2A3F"/>
          </a:solidFill>
          <a:ln xmlns:a="http://schemas.openxmlformats.org/drawingml/2006/main" w="28575">
            <a:solidFill>
              <a:srgbClr val="A8B8C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5ECB79-BD1C-4041-84F9-E473C24F0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1275" y="2533650"/>
            <a:ext cx="762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Z4</a:t>
            </a:r>
          </a:p>
          <a:p xmlns:a="http://schemas.openxmlformats.org/drawingml/2006/main">
            <a:pPr algn="ctr">
              <a:defRPr sz="1575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20%</a:t>
            </a:r>
          </a:p>
        </p:txBody>
      </p:sp>
      <p:cxnSp>
        <p:nvCxnSpPr>
          <p:cNvPr id="36" name=""/>
          <p:cNvCxnSpPr>
            <a:stCxn xmlns:a="http://schemas.openxmlformats.org/drawingml/2006/main" id="7" idx="6"/>
            <a:endCxn xmlns:a="http://schemas.openxmlformats.org/drawingml/2006/main" id="9" idx="2"/>
          </p:cNvCxnSpPr>
          <p:nvPr/>
        </p:nvCxnSpPr>
        <p:spPr>
          <a:xfrm xmlns:a="http://schemas.openxmlformats.org/drawingml/2006/main">
            <a:off x="7372350" y="2847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D7EE"/>
            </a:solidFill>
            <a:prstDash val="solid"/>
            <a:tailEnd type="triangle" w="sm" len="sm"/>
          </a:ln>
        </p:spPr>
      </p:cxnSp>
      <p:cxnSp>
        <p:nvCxnSpPr>
          <p:cNvPr id="37" name=""/>
          <p:cNvCxnSpPr>
            <a:stCxn xmlns:a="http://schemas.openxmlformats.org/drawingml/2006/main" id="9" idx="6"/>
            <a:endCxn xmlns:a="http://schemas.openxmlformats.org/drawingml/2006/main" id="11" idx="2"/>
          </p:cNvCxnSpPr>
          <p:nvPr/>
        </p:nvCxnSpPr>
        <p:spPr>
          <a:xfrm xmlns:a="http://schemas.openxmlformats.org/drawingml/2006/main">
            <a:off x="8591550" y="2847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D7EE"/>
            </a:solidFill>
            <a:prstDash val="solid"/>
            <a:tailEnd type="triangle" w="sm" len="sm"/>
          </a:ln>
        </p:spPr>
      </p:cxnSp>
      <p:cxnSp>
        <p:nvCxnSpPr>
          <p:cNvPr id="38" name=""/>
          <p:cNvCxnSpPr>
            <a:stCxn xmlns:a="http://schemas.openxmlformats.org/drawingml/2006/main" id="11" idx="6"/>
            <a:endCxn xmlns:a="http://schemas.openxmlformats.org/drawingml/2006/main" id="13" idx="2"/>
          </p:cNvCxnSpPr>
          <p:nvPr/>
        </p:nvCxnSpPr>
        <p:spPr>
          <a:xfrm xmlns:a="http://schemas.openxmlformats.org/drawingml/2006/main">
            <a:off x="9810750" y="2847975"/>
            <a:ext cx="3238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D7EE"/>
            </a:solidFill>
            <a:prstDash val="solid"/>
            <a:tailEnd type="triangle" w="sm" len="sm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199423-1590-465C-A0E9-7348D083A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20002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5B83B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5B83B"/>
                </a:solidFill>
                <a:latin typeface="Nimbus Sans"/>
                <a:ea typeface="Nimbus Sans"/>
                <a:cs typeface="Nimbus Sans"/>
              </a:rPr>
              <a:t>PIR now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4B1BEA-77E2-4309-A931-5A14C8C3D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467100"/>
            <a:ext cx="171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148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8D7EE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8D7EE"/>
                </a:solidFill>
                <a:latin typeface="Nimbus Sans"/>
                <a:ea typeface="Nimbus Sans"/>
                <a:cs typeface="Nimbus Sans"/>
              </a:rPr>
              <a:t>PRELIGHT before arrival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936D4-9970-4C03-9891-F73C095F1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457700"/>
            <a:ext cx="462915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4288">
            <a:solidFill>
              <a:srgbClr val="365067"/>
            </a:solidFill>
            <a:prstDash val="solid"/>
          </a:ln>
        </p:spPr>
        <p:txBody>
          <a:bodyPr xmlns:a="http://schemas.openxmlformats.org/drawingml/2006/main" anchor="ctr">
            <a:normAutofit fontScale="99131"/>
          </a:bodyPr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The predictor suggests demand. The controller still applies daylight, sensor-health, weather, and emergency constraints.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88BCCA-88B5-448F-A969-3893EB576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1303506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CEF1F46-AA27-4E15-AD59-FD7E21D49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Failure behavior stays safe and bounded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D2E6CC-12DE-43D6-98A9-8DD2F583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D7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03BF67-E4B7-4FC1-BAA1-F47D713DA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62100"/>
            <a:ext cx="39052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4288">
            <a:solidFill>
              <a:srgbClr val="F5B83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1FECD6-5812-4BE4-BB93-3AE8FBF05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B83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5B83B"/>
                </a:solidFill>
                <a:latin typeface="Nimbus Sans"/>
                <a:ea typeface="Nimbus Sans"/>
                <a:cs typeface="Nimbus Sans"/>
              </a:rPr>
              <a:t>Sensor invalid or stale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80A9C-FFE1-4729-ABB1-9F6F9C82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2882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Detected by timestamp, validity, or timed send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591B12-6AD8-43AE-835B-ED06D9E93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562100"/>
            <a:ext cx="40957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4288">
            <a:solidFill>
              <a:srgbClr val="F5B83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B11ED4-BBAA-403D-8A68-FB288A51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764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B83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5B83B"/>
                </a:solidFill>
                <a:latin typeface="Nimbus Sans"/>
                <a:ea typeface="Nimbus Sans"/>
                <a:cs typeface="Nimbus Sans"/>
              </a:rPr>
              <a:t>70% SENSOR_FAILSAFE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6518F-40F3-4643-A9EE-46CC15123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028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Critical controller loop does not wait forever</a:t>
            </a:r>
          </a:p>
        </p:txBody>
      </p:sp>
      <p:cxnSp>
        <p:nvCxnSpPr>
          <p:cNvPr id="35" name=""/>
          <p:cNvCxnSpPr>
            <a:stCxn xmlns:a="http://schemas.openxmlformats.org/drawingml/2006/main" id="3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781550" y="2009775"/>
            <a:ext cx="2305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5B83B"/>
            </a:solidFill>
            <a:prstDash val="solid"/>
            <a:tailEnd type="triangle" w="sm" len="sm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EAC501-6C70-47A3-9AD4-EC0258728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39052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4288">
            <a:solidFill>
              <a:srgbClr val="28D7E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E4C1101-8C39-4327-941D-AE4075A8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D7EE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8D7EE"/>
                </a:solidFill>
                <a:latin typeface="Nimbus Sans"/>
                <a:ea typeface="Nimbus Sans"/>
                <a:cs typeface="Nimbus Sans"/>
              </a:rPr>
              <a:t>Predictor delayed or stopped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CBF9D2-58E9-4BF6-95BE-1094CB32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2897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Detected by timestamp, validity, or timed send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499681-108B-4175-A8D3-601A2A8A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762250"/>
            <a:ext cx="40957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4288">
            <a:solidFill>
              <a:srgbClr val="28D7E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774274-A63C-4E77-BF0E-6BADCE1EA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765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D7EE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8D7EE"/>
                </a:solidFill>
                <a:latin typeface="Nimbus Sans"/>
                <a:ea typeface="Nimbus Sans"/>
                <a:cs typeface="Nimbus Sans"/>
              </a:rPr>
              <a:t>Rules and live sensors continue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A994A1-BB17-41A1-AE82-CEA2B53A0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22897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Critical controller loop does not wait forever</a:t>
            </a:r>
          </a:p>
        </p:txBody>
      </p:sp>
      <p:cxnSp>
        <p:nvCxnSpPr>
          <p:cNvPr id="42" name=""/>
          <p:cNvCxnSpPr>
            <a:stCxn xmlns:a="http://schemas.openxmlformats.org/drawingml/2006/main" id="10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781550" y="3209925"/>
            <a:ext cx="2305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8D7EE"/>
            </a:solidFill>
            <a:prstDash val="solid"/>
            <a:tailEnd type="triangle" w="sm" len="sm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41BA84-1204-47B4-AD79-1E4099CFB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62400"/>
            <a:ext cx="39052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4288">
            <a:solidFill>
              <a:srgbClr val="4DD49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DE456C-5AD8-4BB6-97D4-AE10AAAA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76700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DD49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4DD49C"/>
                </a:solidFill>
                <a:latin typeface="Nimbus Sans"/>
                <a:ea typeface="Nimbus Sans"/>
                <a:cs typeface="Nimbus Sans"/>
              </a:rPr>
              <a:t>Status queue full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33F57A-7D22-4868-A232-7B5D9C3C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29125"/>
            <a:ext cx="3562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Detected by timestamp, validity, or timed send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A73F44-EC1A-4974-8F6C-37CC8214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962400"/>
            <a:ext cx="4095750" cy="895350"/>
          </a:xfrm>
          <a:prstGeom xmlns:a="http://schemas.openxmlformats.org/drawingml/2006/main" prst="roundRect">
            <a:avLst>
              <a:gd name="adj" fmla="val 14894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4288">
            <a:solidFill>
              <a:srgbClr val="4DD49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5190C9F-9CEE-42DE-8A0A-102952793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07670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DD49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4DD49C"/>
                </a:solidFill>
                <a:latin typeface="Nimbus Sans"/>
                <a:ea typeface="Nimbus Sans"/>
                <a:cs typeface="Nimbus Sans"/>
              </a:rPr>
              <a:t>One display frame is dropped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45702C-E4C7-4566-937C-3E9339021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291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Critical controller loop does not wait forever</a:t>
            </a:r>
          </a:p>
        </p:txBody>
      </p:sp>
      <p:cxnSp>
        <p:nvCxnSpPr>
          <p:cNvPr id="49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4781550" y="4410075"/>
            <a:ext cx="23050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DD49C"/>
            </a:solidFill>
            <a:prstDash val="solid"/>
            <a:tailEnd type="triangle" w="sm" len="sm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01C632-63BB-4BF9-8CE4-A12D27A7F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81625"/>
            <a:ext cx="2171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5C6C"/>
                </a:solidFill>
                <a:latin typeface="Nimbus Sans"/>
                <a:ea typeface="Nimbus Sans"/>
                <a:cs typeface="Nimbus Sans"/>
              </a:defRPr>
            </a:pPr>
            <a:r>
              <a:rPr sz="1950" b="1">
                <a:solidFill>
                  <a:srgbClr val="FF5C6C"/>
                </a:solidFill>
                <a:latin typeface="Nimbus Sans"/>
                <a:ea typeface="Nimbus Sans"/>
                <a:cs typeface="Nimbus Sans"/>
              </a:rPr>
              <a:t>Emergency path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2DECDBF-50D2-403F-A501-8C955F67B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5219700"/>
            <a:ext cx="79819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351823"/>
          </a:solidFill>
          <a:ln xmlns:a="http://schemas.openxmlformats.org/drawingml/2006/main" w="19050">
            <a:solidFill>
              <a:srgbClr val="FF5C6C"/>
            </a:solidFill>
            <a:prstDash val="solid"/>
          </a:ln>
        </p:spPr>
        <p:txBody>
          <a:bodyPr xmlns:a="http://schemas.openxmlformats.org/drawingml/2006/main" anchor="ctr">
            <a:normAutofit fontScale="96999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A separate service and priority-31 event bypass prediction and immediately set all targets to 100%.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AAF18C-1F79-4152-814E-5A994E9C0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3372784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D6A3264-B505-4BC7-B293-70E86BEC4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Mandatory CLI and live fault injection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A40A09-9F6C-4039-BF77-BEB83F4E4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D7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9A2756-32E3-47C4-BE72-5F12DFB1F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7239000" cy="4686300"/>
          </a:xfrm>
          <a:prstGeom xmlns:a="http://schemas.openxmlformats.org/drawingml/2006/main" prst="roundRect">
            <a:avLst>
              <a:gd name="adj" fmla="val 2846"/>
            </a:avLst>
          </a:prstGeom>
          <a:solidFill xmlns:a="http://schemas.openxmlformats.org/drawingml/2006/main">
            <a:srgbClr val="02080D"/>
          </a:solidFill>
          <a:ln xmlns:a="http://schemas.openxmlformats.org/drawingml/2006/main" w="14288">
            <a:solidFill>
              <a:srgbClr val="36506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678C57-F80D-41ED-A7B5-B2F0BE254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6743700" cy="422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rPr>
              <a:t>$ ./lumigrid --interactive</a:t>
            </a:r>
          </a:p>
          <a:p xmlns:a="http://schemas.openxmlformats.org/drawingml/2006/main">
            <a:pPr algn="l">
              <a:def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rPr>
              <a:t>lgrt&gt; occupancy 2 3</a:t>
            </a:r>
          </a:p>
          <a:p xmlns:a="http://schemas.openxmlformats.org/drawingml/2006/main">
            <a:pPr algn="l">
              <a:def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rPr>
              <a:t>lgrt&gt; emergency on 5</a:t>
            </a:r>
          </a:p>
          <a:p xmlns:a="http://schemas.openxmlformats.org/drawingml/2006/main">
            <a:pPr algn="l">
              <a:def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rPr>
              <a:t>lgrt&gt;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rPr>
              <a:t>Zone  Lux   PIR  Predict  Bright  Mode</a:t>
            </a:r>
          </a:p>
          <a:p xmlns:a="http://schemas.openxmlformats.org/drawingml/2006/main">
            <a:pPr algn="l">
              <a:def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rPr>
              <a:t>1     18    no   31%      65%     PRELIGHT</a:t>
            </a:r>
          </a:p>
          <a:p xmlns:a="http://schemas.openxmlformats.org/drawingml/2006/main">
            <a:pPr algn="l">
              <a:def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rPr>
              <a:t>2     17    YES  68%      100%    ACTIVE</a:t>
            </a:r>
          </a:p>
          <a:p xmlns:a="http://schemas.openxmlformats.org/drawingml/2006/main">
            <a:pPr algn="l">
              <a:def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rPr>
              <a:t>3     19    no   28%      65%     PRELIGHT</a:t>
            </a:r>
          </a:p>
          <a:p xmlns:a="http://schemas.openxmlformats.org/drawingml/2006/main">
            <a:pPr algn="l">
              <a:def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rPr>
              <a:t>4     18    no   22%      20%     ECO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defRPr>
            </a:pPr>
            <a:r>
              <a:rPr sz="1500" b="0">
                <a:solidFill>
                  <a:srgbClr val="4DD49C"/>
                </a:solidFill>
                <a:latin typeface="Nimbus Mono PS"/>
                <a:ea typeface="Nimbus Mono PS"/>
                <a:cs typeface="Nimbus Mono PS"/>
              </a:rPr>
              <a:t>Emergency=ON   every target=100%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75626-ECAE-41B4-B3BD-3C0990597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47800"/>
            <a:ext cx="2952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8D7EE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28D7EE"/>
                </a:solidFill>
                <a:latin typeface="Nimbus Sans"/>
                <a:ea typeface="Nimbus Sans"/>
                <a:cs typeface="Nimbus Sans"/>
              </a:rPr>
              <a:t>Judge actions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547C51-17BB-4DBD-B9BC-2818A7356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14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B83B"/>
                </a:solidFill>
                <a:latin typeface="Nimbus Mono PS"/>
                <a:ea typeface="Nimbus Mono PS"/>
                <a:cs typeface="Nimbus Mono PS"/>
              </a:defRPr>
            </a:pPr>
            <a:r>
              <a:rPr sz="1425" b="1">
                <a:solidFill>
                  <a:srgbClr val="F5B83B"/>
                </a:solidFill>
                <a:latin typeface="Nimbus Mono PS"/>
                <a:ea typeface="Nimbus Mono PS"/>
                <a:cs typeface="Nimbus Mono PS"/>
              </a:rPr>
              <a:t>occupancy 2 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F012C36-8E05-4C46-B519-53277B72D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381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Moving light wave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37B242-233F-4EE7-BB97-25A7A63B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384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B83B"/>
                </a:solidFill>
                <a:latin typeface="Nimbus Mono PS"/>
                <a:ea typeface="Nimbus Mono PS"/>
                <a:cs typeface="Nimbus Mono PS"/>
              </a:defRPr>
            </a:pPr>
            <a:r>
              <a:rPr sz="1425" b="1">
                <a:solidFill>
                  <a:srgbClr val="F5B83B"/>
                </a:solidFill>
                <a:latin typeface="Nimbus Mono PS"/>
                <a:ea typeface="Nimbus Mono PS"/>
                <a:cs typeface="Nimbus Mono PS"/>
              </a:rPr>
              <a:t>emergency on 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D33B54-EC7C-4790-9CD0-69A7801B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Timed priority override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8849C0-71C3-45F4-8586-050059EAE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5623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B83B"/>
                </a:solidFill>
                <a:latin typeface="Nimbus Mono PS"/>
                <a:ea typeface="Nimbus Mono PS"/>
                <a:cs typeface="Nimbus Mono PS"/>
              </a:defRPr>
            </a:pPr>
            <a:r>
              <a:rPr sz="1425" b="1">
                <a:solidFill>
                  <a:srgbClr val="F5B83B"/>
                </a:solidFill>
                <a:latin typeface="Nimbus Mono PS"/>
                <a:ea typeface="Nimbus Mono PS"/>
                <a:cs typeface="Nimbus Mono PS"/>
              </a:rPr>
              <a:t>fault 3 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9D7FCB-D1F0-481C-B73A-A72DF964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290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Sensor fail-safe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E11B7-674A-4BE1-8FF5-3C46846A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862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B83B"/>
                </a:solidFill>
                <a:latin typeface="Nimbus Mono PS"/>
                <a:ea typeface="Nimbus Mono PS"/>
                <a:cs typeface="Nimbus Mono PS"/>
              </a:defRPr>
            </a:pPr>
            <a:r>
              <a:rPr sz="1425" b="1">
                <a:solidFill>
                  <a:srgbClr val="F5B83B"/>
                </a:solidFill>
                <a:latin typeface="Nimbus Mono PS"/>
                <a:ea typeface="Nimbus Mono PS"/>
                <a:cs typeface="Nimbus Mono PS"/>
              </a:rPr>
              <a:t>lux 500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30075C-A61F-4896-AB17-4BDD23FC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529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Daylight control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F7609F-AAAB-4EAB-B3AF-319073AA2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0101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B83B"/>
                </a:solidFill>
                <a:latin typeface="Nimbus Mono PS"/>
                <a:ea typeface="Nimbus Mono PS"/>
                <a:cs typeface="Nimbus Mono PS"/>
              </a:defRPr>
            </a:pPr>
            <a:r>
              <a:rPr sz="1425" b="1">
                <a:solidFill>
                  <a:srgbClr val="F5B83B"/>
                </a:solidFill>
                <a:latin typeface="Nimbus Mono PS"/>
                <a:ea typeface="Nimbus Mono PS"/>
                <a:cs typeface="Nimbus Mono PS"/>
              </a:rPr>
              <a:t>auto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9E32984-4A3A-4854-93C0-71BE08D9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2768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Clear injected inputs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E9EC3E-46F9-49B6-B93B-A6C46E22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074170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F2C1EFB-597E-43BA-96BA-21EDF53EF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Host baseline: safety demand determines the saving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73A762-D555-413F-8993-830F7992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D7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0EA7AA-32D4-4E93-9188-D4D7CF72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00100"/>
            <a:ext cx="977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September 12, 2026; four processes; 100 ms scenario sampling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552450" y="1409700"/>
          <a:ext xmlns:a="http://schemas.openxmlformats.org/drawingml/2006/main" cx="6191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3a627420e5400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8B311C-9159-4321-86CD-E5348177A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Estimated energy saving (%)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C36603-072A-49D5-81CA-0EA1CDC0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668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8D7EE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28D7EE"/>
                </a:solidFill>
                <a:latin typeface="Nimbus Sans"/>
                <a:ea typeface="Nimbus Sans"/>
                <a:cs typeface="Nimbus Sans"/>
              </a:rPr>
              <a:t>Eight-zone stress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C6BC8-F5EE-4172-AD0E-4BADF86E0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955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B83B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F5B83B"/>
                </a:solidFill>
                <a:latin typeface="Nimbus Sans"/>
                <a:ea typeface="Nimbus Sans"/>
                <a:cs typeface="Nimbus Sans"/>
              </a:rPr>
              <a:t>3,331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E8CBB7-8542-4B7C-BA33-8B07A3C26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336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messages in 10.35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FD0664-323C-4920-8A3F-32EAE4E5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718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DD49C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4DD49C"/>
                </a:solidFill>
                <a:latin typeface="Nimbus Sans"/>
                <a:ea typeface="Nimbus Sans"/>
                <a:cs typeface="Nimbus Sans"/>
              </a:rPr>
              <a:t>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433259-F5AE-4853-ABD1-856950814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0099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596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sampling deadline misses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D4EA98-B434-4367-8ED3-0CDDDC5C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481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B83B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F5B83B"/>
                </a:solidFill>
                <a:latin typeface="Nimbus Sans"/>
                <a:ea typeface="Nimbus Sans"/>
                <a:cs typeface="Nimbus Sans"/>
              </a:rPr>
              <a:t>≤ 100 μs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75AA2E-7D22-446D-AF89-CEBE8E8A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38862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0871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p95 event-latency bucket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2DFF801-A3B7-4DE1-93AA-6F395CF79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24400"/>
            <a:ext cx="2000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7368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5B83B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F5B83B"/>
                </a:solidFill>
                <a:latin typeface="Nimbus Sans"/>
                <a:ea typeface="Nimbus Sans"/>
                <a:cs typeface="Nimbus Sans"/>
              </a:rPr>
              <a:t>71.866 μs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D8C7D0-ACE5-4B1D-A191-5C9D2C1A6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762500"/>
            <a:ext cx="2000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1118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worst emergency latency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E1A96C-B8C6-4F3F-8C8A-EA746BEB2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657850"/>
            <a:ext cx="4324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118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5C6C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FF5C6C"/>
                </a:solidFill>
                <a:latin typeface="Nimbus Sans"/>
                <a:ea typeface="Nimbus Sans"/>
                <a:cs typeface="Nimbus Sans"/>
              </a:rPr>
              <a:t>Host reference only. QNX Pi measurements replace these before final submission.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523408-276F-4EA2-AE0E-D881761AF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060406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72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0F9318B-30F8-4C24-AAC0-77D249BD1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3150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Raspberry Pi and QNX target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00E5D-031E-4596-AE08-F1C16D5C4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76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8D7E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9B913-1D54-4E82-BDBF-1157A9263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800100"/>
            <a:ext cx="9772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3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The controller and predictor stay unchanged when simulated inputs become hardware inputs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97D652-772F-4A36-8BAE-9B2C7C6D0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76400"/>
            <a:ext cx="25717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4288">
            <a:solidFill>
              <a:srgbClr val="4DD49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F01A4-14A3-4B3E-BF35-E4596E0F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907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DD49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4DD49C"/>
                </a:solidFill>
                <a:latin typeface="Nimbus Sans"/>
                <a:ea typeface="Nimbus Sans"/>
                <a:cs typeface="Nimbus Sans"/>
              </a:rPr>
              <a:t>Inputs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69997-5237-4A8C-B2AD-F5FB65EDF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43125"/>
            <a:ext cx="2228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LDR through ADC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PIR occupancy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Emergency button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04402C-D6E5-41C9-AC2D-3BF2AB27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676400"/>
            <a:ext cx="26670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4288">
            <a:solidFill>
              <a:srgbClr val="28D7E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66EF4-7160-466F-B474-7FDD71C04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1790700"/>
            <a:ext cx="2324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8D7EE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8D7EE"/>
                </a:solidFill>
                <a:latin typeface="Nimbus Sans"/>
                <a:ea typeface="Nimbus Sans"/>
                <a:cs typeface="Nimbus Sans"/>
              </a:rPr>
              <a:t>Raspberry Pi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E4840-113D-41F3-A078-FC9CB0BCA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143125"/>
            <a:ext cx="23241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QNX OS 8.0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POSIX message queues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FIFO priorities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8991B4-A5FA-4E17-A3E6-A96856E7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1676400"/>
            <a:ext cx="25717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0B2234"/>
          </a:solidFill>
          <a:ln xmlns:a="http://schemas.openxmlformats.org/drawingml/2006/main" w="14288">
            <a:solidFill>
              <a:srgbClr val="F5B83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0C63D1-2094-46A2-BB3B-C90BD4993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1790700"/>
            <a:ext cx="2228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5B83B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F5B83B"/>
                </a:solidFill>
                <a:latin typeface="Nimbus Sans"/>
                <a:ea typeface="Nimbus Sans"/>
                <a:cs typeface="Nimbus Sans"/>
              </a:rPr>
              <a:t>Outputs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A7C76E-761E-4D9D-8D5D-92046E9E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143125"/>
            <a:ext cx="22288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PCA9685 PWM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Four LED zones</a:t>
            </a:r>
          </a:p>
          <a:p xmlns:a="http://schemas.openxmlformats.org/drawingml/2006/main">
            <a:pPr algn="l">
              <a:def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275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Serial and CSV evidence</a:t>
            </a:r>
          </a:p>
        </p:txBody>
      </p:sp>
      <p:cxnSp>
        <p:nvCxnSpPr>
          <p:cNvPr id="42" name=""/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276600" y="23526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4DD49C"/>
            </a:solidFill>
            <a:prstDash val="solid"/>
            <a:tailEnd type="triangle" w="sm" len="sm"/>
          </a:ln>
        </p:spPr>
      </p:cxnSp>
      <p:cxnSp>
        <p:nvCxnSpPr>
          <p:cNvPr id="43" name=""/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429500" y="2352675"/>
            <a:ext cx="148590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F5B83B"/>
            </a:solidFill>
            <a:prstDash val="solid"/>
            <a:tailEnd type="triangle" w="sm" len="sm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0165DB-6F57-438F-8976-62FF766F8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38550"/>
            <a:ext cx="10782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Tuesday bring-up sequence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61EFBF-A823-41ED-A70B-26465BB66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1AA"/>
          </a:solidFill>
          <a:ln xmlns:a="http://schemas.openxmlformats.org/drawingml/2006/main" w="19050">
            <a:solidFill>
              <a:srgbClr val="28D7E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398251-B256-42DC-B396-17E10C55A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958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A16761-A7DA-4D74-A877-45254EFD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48250"/>
            <a:ext cx="2362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Boot the exact Pi BSP and run hello world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154DE1-4BD1-4B71-BDE6-35C0B9802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1AA"/>
          </a:solidFill>
          <a:ln xmlns:a="http://schemas.openxmlformats.org/drawingml/2006/main" w="19050">
            <a:solidFill>
              <a:srgbClr val="28D7E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F4502E-6183-4930-B93F-EBE644AA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958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544AB6-DA09-4EA6-B0F3-393DA9625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48250"/>
            <a:ext cx="2362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Run LumiGrid-RT in simulator mode on the QNX target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518005-A06E-413A-BD62-9F21EB529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1AA"/>
          </a:solidFill>
          <a:ln xmlns:a="http://schemas.openxmlformats.org/drawingml/2006/main" w="19050">
            <a:solidFill>
              <a:srgbClr val="28D7E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D0AE5E-EC63-4320-919B-E58015FB3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4958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405E15-00C6-4090-919F-AD5EA864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048250"/>
            <a:ext cx="2362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Verify GPIO, I2C or SPI interfaces one device at a time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34EA6F9-8ABE-4A9A-B8D0-582D702F2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419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1AA"/>
          </a:solidFill>
          <a:ln xmlns:a="http://schemas.openxmlformats.org/drawingml/2006/main" w="19050">
            <a:solidFill>
              <a:srgbClr val="28D7E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F55B14-0421-4969-AE3D-631BC1F02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495800"/>
            <a:ext cx="40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758EAD0-22D5-4557-A463-C8F78CAC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5048250"/>
            <a:ext cx="2362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4F7FB"/>
                </a:solidFill>
                <a:latin typeface="Nimbus Sans"/>
                <a:ea typeface="Nimbus Sans"/>
                <a:cs typeface="Nimbus Sans"/>
              </a:defRPr>
            </a:pPr>
            <a:r>
              <a:rPr sz="1425" b="0">
                <a:solidFill>
                  <a:srgbClr val="F4F7FB"/>
                </a:solidFill>
                <a:latin typeface="Nimbus Sans"/>
                <a:ea typeface="Nimbus Sans"/>
                <a:cs typeface="Nimbus Sans"/>
              </a:rPr>
              <a:t>Capture QNX CPU, memory, priority and latency evidence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4F798B-A2F4-405D-A1CA-0C3689B37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057900"/>
            <a:ext cx="781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4DD49C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4DD49C"/>
                </a:solidFill>
                <a:latin typeface="Nimbus Sans"/>
                <a:ea typeface="Nimbus Sans"/>
                <a:cs typeface="Nimbus Sans"/>
              </a:rPr>
              <a:t>Working QNX simulation remains the honest fallback if a sensor driver fails.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13E1FC-CBDE-4596-9CFB-D4097CAAB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38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defRPr>
            </a:pPr>
            <a:r>
              <a:rPr sz="1050" b="0">
                <a:solidFill>
                  <a:srgbClr val="A8B8C8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8523273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2026-09-12T01:19:36.0300000Z</dcterms:created>
  <dcterms:modified xsi:type="dcterms:W3CDTF">2026-09-12T01:19:36.0300000Z</dcterms:modified>
</coreProperties>
</file>